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E94560"/>
                </a:solidFill>
                <a:latin typeface="Segoe UI"/>
              </a:rPr>
              <a:t>SonarEye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E0E0E0"/>
                </a:solidFill>
                <a:latin typeface="Segoe UI"/>
              </a:rPr>
              <a:t>Finding what doesn't belong on the seafloor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Segoe UI"/>
              </a:rPr>
              <a:t>•  Ghost nets and marine debris keep catching life long after they're abandoned — but on side-scan sonar they blend into natural clutter (rock, reef, sand ripples).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Segoe UI"/>
              </a:rPr>
              <a:t>•  Sonar survey review is still largely manual: an analyst scrubs hours of imagery frame by frame.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Segoe UI"/>
              </a:rPr>
              <a:t>•  The hard problem: telling a real anomalous object from high-contrast natural texture, at scale, without missing things.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What we built and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Segoe UI"/>
              </a:rPr>
              <a:t>•  End-to-end pipeline: raw sonar → preprocessing → tiled U-Net segmentation → post-processing → geotagging → mission report, with a human review loop.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Segoe UI"/>
              </a:rPr>
              <a:t>•  Validated on real shipwreck side-scan sonar (AI4Shipwrecks: 286 images, 28 sites; site-based split, zero site overlap between train and test).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94560"/>
                </a:solidFill>
                <a:latin typeface="Segoe UI"/>
              </a:rPr>
              <a:t>•  Headline: Test IoU 0.4268 / Dice 0.5983 on 13 held-out sites.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E0E0E0"/>
                </a:solidFill>
                <a:latin typeface="Segoe UI"/>
              </a:rPr>
              <a:t>•  In-distribution validation reaches IoU 0.713 / Dice 0.833 — the gap is reported, not hidden.</a:t>
            </a:r>
          </a:p>
        </p:txBody>
      </p:sp>
      <p:pic>
        <p:nvPicPr>
          <p:cNvPr id="4" name="Picture 3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85359"/>
            <a:ext cx="5212080" cy="2635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How it works, end to end</a:t>
            </a:r>
          </a:p>
        </p:txBody>
      </p:sp>
      <p:pic>
        <p:nvPicPr>
          <p:cNvPr id="3" name="Picture 2" descr="0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204" y="1234440"/>
            <a:ext cx="8317111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A9AB0"/>
                </a:solidFill>
                <a:latin typeface="Segoe UI"/>
              </a:rPr>
              <a:t>Preprocessing (Lee filter + water crop + CLAHE) · U-Net ResNet34, 512×512 tiles @50% overlap · connected-components + sonar-heuristic confidence · pixel→lat/lon geotagging · JSON/CSV/PDF report · SQLite-persisted human review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Evidence: evaluation &amp; robustness</a:t>
            </a:r>
          </a:p>
        </p:txBody>
      </p:sp>
      <p:pic>
        <p:nvPicPr>
          <p:cNvPr id="3" name="Picture 2" descr="03_evaluation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086" y="1188720"/>
            <a:ext cx="9379348" cy="37490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02920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FF9800"/>
                </a:solidFill>
                <a:latin typeface="Segoe UI"/>
              </a:rPr>
              <a:t>•  The single convergent finding: the model fires on high-contrast structured texture, not exclusively on shipwreck shape.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>
                <a:solidFill>
                  <a:srgbClr val="E0E0E0"/>
                </a:solidFill>
                <a:latin typeface="Segoe UI"/>
              </a:rPr>
              <a:t>•  The perturbations that degrade it most (speckle −0.0453, heave/pitch/roll −0.0254) are the ones that alter texture; four independent stress tests point the same way. Baseline IoU 0.0581.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Evidence: deployment &amp;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463040"/>
          <a:ext cx="108813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48056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E0E0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E0E0"/>
                          </a:solidFill>
                          <a:latin typeface="Segoe UI"/>
                        </a:rPr>
                        <a:t>Measured value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E0E0E0"/>
                          </a:solidFill>
                          <a:latin typeface="Segoe UI"/>
                        </a:rPr>
                        <a:t>Scope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GPU forward 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0.37 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pure model, warm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Full pipeline (GPU)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686 ms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preprocess + infer + post, warm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Full pipeline (CPU)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4.29 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warm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Cold start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~7,120 ms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incl. ~5.9 s one-time imports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ONNX FP32 export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97.7 MB · max diff 2.57e-05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PASS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ONNX INT8 export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24.6 MB · diff 0.6497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E0E0E0"/>
                          </a:solidFill>
                          <a:latin typeface="Segoe UI"/>
                        </a:rPr>
                        <a:t>WARN — not used</a:t>
                      </a:r>
                    </a:p>
                  </a:txBody>
                  <a:tcPr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9377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E0E0E0"/>
                </a:solidFill>
                <a:latin typeface="Segoe UI"/>
              </a:rPr>
              <a:t>•  Runs today as a Streamlit app.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>
                <a:solidFill>
                  <a:srgbClr val="FF9800"/>
                </a:solidFill>
                <a:latin typeface="Segoe UI"/>
              </a:rPr>
              <a:t>•  No "real-time" or "edge-ready" claim — those require measurement on target hardware, which we have not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The taxonomy gap: investigated, not hidden</a:t>
            </a:r>
          </a:p>
        </p:txBody>
      </p:sp>
      <p:pic>
        <p:nvPicPr>
          <p:cNvPr id="3" name="Picture 2" descr="04_class_expansion_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607" y="1188720"/>
            <a:ext cx="8136305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i="1">
                <a:solidFill>
                  <a:srgbClr val="9A9AB0"/>
                </a:solidFill>
                <a:latin typeface="Segoe UI"/>
              </a:rPr>
              <a:t>Shipwrecks SHIPPED (test IoU 0.427) · Pipes+cylinders BLOCKED (SubPipe GPL-3.0 + domain shift) · Ghost nets BLOCKED (no public labeled sonar data) · Generic debris DEFERRED. The system boundary is defined by evidence, not omission.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The pipeline doesn't know what it's looking 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The segmentation model outputs "anomalous object vs seafloor" — it is not hardcoded to "shipwreck."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Adding a second class is a data problem, not an architecture rewrite: the review workflow already stores a generic category field (shipwreck, rock, shadow_artifact, biological, unknown).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6A69A"/>
                </a:solidFill>
                <a:latin typeface="Segoe UI"/>
              </a:rPr>
              <a:t>•  Shipwrecks were simply the class that had real, licensed, labeled data to prove the architecture on. The design generalizes; the evidence is class-specific by necessity.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Synthetic net exploration — a texture probe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Exploratory probe on synthetic net-like texture: 26/30 (86.7%) patches triggered a detection (72 detections total, seed 7).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Consistent with the Slide 4 finding — the model fires on unfamiliar high-contrast texture, not on net shape.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>
                <a:solidFill>
                  <a:srgbClr val="FF9800"/>
                </a:solidFill>
                <a:latin typeface="Segoe UI"/>
              </a:rPr>
              <a:t>Label: “illustrative, unvalidated, synthetic-only exploration — not a demonstrated capability.”  This is NOT ghost-net detection and is not presented as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AI assists, a human verifies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Mission flow: landing → survey → analysis → review-in-sequence → map → summary → report.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Each detection is reviewed in sequence: confirm / reject / uncertain, with optional category and note; decisions persist across restarts (SQLite).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6A69A"/>
                </a:solidFill>
                <a:latin typeface="Segoe UI"/>
              </a:rPr>
              <a:t>•  The report distinguishes AI-flagged / unreviewed from human-confirmed — the tool never presents an unreviewed detection as a verified finding.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What real deployment would need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Labeled ghost-net sonar data — the one missing ingredient. Plausible route: partner with a conservation / ghost-gear-retrieval organization to co-label real survey imagery, the way AI4Shipwrecks itself was built.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Embedded-hardware benchmarking before any "edge" or "real-time" claim can be made.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E0E0E0"/>
                </a:solidFill>
                <a:latin typeface="Segoe UI"/>
              </a:rPr>
              <a:t>•  Validation on Indian-waters sonar to confirm generalization beyond freshwater Great Lakes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0E0E0"/>
                </a:solidFill>
                <a:latin typeface="Segoe UI"/>
              </a:rPr>
              <a:t>What's real today, and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E0E0E0"/>
                </a:solidFill>
                <a:latin typeface="Segoe UI"/>
              </a:rPr>
              <a:t>•  Real and tested today: end-to-end pipeline validated on real held-out shipwreck sonar (Test IoU 0.4268), with measured latency, a human review loop, and geotagged reports.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E0E0E0"/>
                </a:solidFill>
                <a:latin typeface="Segoe UI"/>
              </a:rPr>
              <a:t>•  Honestly bounded: we documented every class we couldn't ship and why; the net work is an unvalidated texture probe, not a capability.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900">
                <a:solidFill>
                  <a:srgbClr val="E94560"/>
                </a:solidFill>
                <a:latin typeface="Segoe UI"/>
              </a:rPr>
              <a:t>•  Next: labeled ghost-net data + hardware benchmarking + regional validation turn a proven architecture into a deployable tool.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